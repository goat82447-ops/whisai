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1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8944-9A42-2D9E-9B70-F747A1F2E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5B8F1-0163-D231-EF5B-04F129E10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6499-E402-4BC9-1DF3-A92956549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700DF-03EC-13A4-BA0E-6495140B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AB6B-8B01-D70A-79C5-53449F93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62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E306-48BC-8EE3-5D86-006256ED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B2F5F-F1E6-3D1F-7817-60A54377D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A8F2-3F0D-AB98-3605-934A7B1F1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490E-F203-6F7A-C3F9-123CF791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9234D-A3C2-B410-6497-44B696A8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46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1E51-9C4F-2CB1-4E64-945ECCF0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4FF3-0DC5-F945-8DA7-9630B839A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A6AE-E032-9E19-AAC8-45F7025D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5B25-D1CF-41EA-5B6E-45B1A103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2020-7C72-4875-3C42-ABE20CF6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2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A14B-3DF5-5E9D-B46F-9B8A1EBB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CD0E-13C3-A968-2B9F-2DB278494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EC2D4-7805-6B23-9436-BB1078BE4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7C904-3C65-D12A-633B-87B40381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C2842-89C9-6638-C5F6-C0E23A95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15601-0D8C-0702-23DE-39C2B18E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1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5177-9970-71D5-9AFC-0FE5C851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DB414-2E7A-3098-9C25-EE1EE00C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CE391-E262-9739-E5E9-B178B943D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6E041-8C0E-4328-4731-D8EF6088A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CBFF3-A7AC-6055-8306-36B354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4159C-097D-F844-47D4-4D195DC7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DB999-82A8-CCAC-818C-E5774EFD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45E1C-E4BD-7213-D6CB-2B199F2F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1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1197-46D1-71D6-9877-F29CCA6B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C037E-91C2-CFE5-E93A-6BAB6F5D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0464F-6880-826F-D107-CEF2DBA0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2F65C-92D3-12F2-7DC1-0A7AEF7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52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6F1A4-D354-4138-9027-CA762864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36579-1A26-DA73-6655-0DABF7EF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9117-354F-D470-CE54-FE31CBD9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8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3428-B862-5B74-F651-62E52DA2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A4705-3BB5-1223-F5C2-CB15924D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88B75-2613-95BB-8F01-527807E03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C328B-E050-3A11-BC35-3E84F67D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106B4-6B6C-DF7F-54A5-758459FD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8D245-F63C-D828-AFD8-A2480559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74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631E-2B14-07EC-F863-B6D3F1F6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08275-E694-7FB9-30B5-F52CD5D06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E7DCA-C284-D5C9-369C-E896156F7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1F9A3-346E-F231-B401-B1424125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7F664-4220-E61F-6520-7217CE12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1141E-E847-3CF3-D59C-2FC67A7A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81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FC62-D663-A5F0-0590-96B60A5A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8BFC7-F499-C410-DD5B-45C05AC24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0E777-9F3E-C41F-3D30-4389A589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AF2E-467F-33F6-A2FA-032AA6CC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8CE27-AFBF-B4CB-4F39-9D8CFBA3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45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35DB9-F2F1-AB9A-F64F-F0A8C9B9B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BC8D8-C397-AC8F-3CEE-9AC1FB013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AA00-A665-C7BC-94D0-D54369AF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3EE2-61AF-952C-5336-486AD890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F7601-F312-434F-8632-398F1B47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0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FC764-D709-6483-0C5B-72F42531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64D1E-84F3-E68C-1031-94D1B1E50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102E-F3B4-A956-5E6F-84D542A4D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D180D-98A5-4CAE-843A-360F6FACEC0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EE92C-F73A-92AC-7E86-C2A43A176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8FA94-0CF9-4B90-F746-43279F544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210AF-358C-4DAE-BB04-28BFD483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7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C7892-7033-FF87-04B5-AB73CB1B22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13"/>
          </a:solidFill>
          <a:ln w="1524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240" cap="flat" cmpd="sng" algn="ctr">
                <a:solidFill>
                  <a:srgbClr val="0F1613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FE54D-D34D-BCC0-D9AD-04968D425B45}"/>
              </a:ext>
            </a:extLst>
          </p:cNvPr>
          <p:cNvSpPr/>
          <p:nvPr/>
        </p:nvSpPr>
        <p:spPr>
          <a:xfrm>
            <a:off x="736600" y="685800"/>
            <a:ext cx="2413000" cy="355600"/>
          </a:xfrm>
          <a:prstGeom prst="round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097CC-784A-20C8-C37A-166E9F1FAA00}"/>
              </a:ext>
            </a:extLst>
          </p:cNvPr>
          <p:cNvSpPr txBox="1"/>
          <p:nvPr/>
        </p:nvSpPr>
        <p:spPr>
          <a:xfrm>
            <a:off x="736600" y="732795"/>
            <a:ext cx="2413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KRISHAI PRIVACY GUIDE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A85C8-9BF5-8D1A-1370-2423728F5272}"/>
              </a:ext>
            </a:extLst>
          </p:cNvPr>
          <p:cNvSpPr txBox="1"/>
          <p:nvPr/>
        </p:nvSpPr>
        <p:spPr>
          <a:xfrm>
            <a:off x="736600" y="1799079"/>
            <a:ext cx="10718800" cy="63094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Aptos" panose="020B0004020202020204" pitchFamily="34" charset="0"/>
              </a:rPr>
              <a:t>What does an outside person see?</a:t>
            </a:r>
            <a:endParaRPr lang="en-IN" sz="3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5093B-A6AD-0604-5365-BFE454F689C2}"/>
              </a:ext>
            </a:extLst>
          </p:cNvPr>
          <p:cNvSpPr txBox="1"/>
          <p:nvPr/>
        </p:nvSpPr>
        <p:spPr>
          <a:xfrm>
            <a:off x="736600" y="2914134"/>
            <a:ext cx="96520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800">
                <a:solidFill>
                  <a:srgbClr val="BECCC3"/>
                </a:solidFill>
                <a:latin typeface="Aptos" panose="020B0004020202020204" pitchFamily="34" charset="0"/>
              </a:rPr>
              <a:t>A clear comparison of no sharing, KrishAI screen context, and Teams or Meet sharing.</a:t>
            </a:r>
            <a:endParaRPr lang="en-IN" sz="1800">
              <a:solidFill>
                <a:srgbClr val="BECCC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477FD7-F091-A629-2BCC-90C35A28B6D8}"/>
              </a:ext>
            </a:extLst>
          </p:cNvPr>
          <p:cNvSpPr/>
          <p:nvPr/>
        </p:nvSpPr>
        <p:spPr>
          <a:xfrm>
            <a:off x="736600" y="4089400"/>
            <a:ext cx="10718800" cy="1905000"/>
          </a:xfrm>
          <a:prstGeom prst="roundRect">
            <a:avLst/>
          </a:prstGeom>
          <a:solidFill>
            <a:srgbClr val="1C2621"/>
          </a:solidFill>
          <a:ln w="15240">
            <a:solidFill>
              <a:srgbClr val="344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EA457-465D-66F9-1905-6349F10A4D4A}"/>
              </a:ext>
            </a:extLst>
          </p:cNvPr>
          <p:cNvSpPr txBox="1"/>
          <p:nvPr/>
        </p:nvSpPr>
        <p:spPr>
          <a:xfrm>
            <a:off x="1092200" y="4403095"/>
            <a:ext cx="17780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100" b="1">
                <a:solidFill>
                  <a:srgbClr val="EB7056"/>
                </a:solidFill>
                <a:latin typeface="Aptos" panose="020B0004020202020204" pitchFamily="34" charset="0"/>
              </a:rPr>
              <a:t>KEY RULE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3DF5E-BB43-DA6C-DAD5-31FC82346A71}"/>
              </a:ext>
            </a:extLst>
          </p:cNvPr>
          <p:cNvSpPr txBox="1"/>
          <p:nvPr/>
        </p:nvSpPr>
        <p:spPr>
          <a:xfrm>
            <a:off x="1092200" y="4858435"/>
            <a:ext cx="9652000" cy="6463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Only what you choose to share leaves your screen.
Unshared windows stay outside that sharing path.</a:t>
            </a:r>
            <a:endParaRPr lang="en-IN" sz="1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31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60B41C-B5D3-DF4E-35B2-B753C7C9B521}"/>
              </a:ext>
            </a:extLst>
          </p:cNvPr>
          <p:cNvSpPr/>
          <p:nvPr/>
        </p:nvSpPr>
        <p:spPr>
          <a:xfrm>
            <a:off x="736600" y="482600"/>
            <a:ext cx="1422400" cy="355600"/>
          </a:xfrm>
          <a:prstGeom prst="round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07E4B-6051-E9A6-3E6D-C2B31D1D082B}"/>
              </a:ext>
            </a:extLst>
          </p:cNvPr>
          <p:cNvSpPr txBox="1"/>
          <p:nvPr/>
        </p:nvSpPr>
        <p:spPr>
          <a:xfrm>
            <a:off x="736600" y="529595"/>
            <a:ext cx="1422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STATE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FC4C5-391F-24A5-CA2D-6D88157D96C2}"/>
              </a:ext>
            </a:extLst>
          </p:cNvPr>
          <p:cNvSpPr txBox="1"/>
          <p:nvPr/>
        </p:nvSpPr>
        <p:spPr>
          <a:xfrm>
            <a:off x="736600" y="1121346"/>
            <a:ext cx="10718800" cy="53860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2900" b="1">
                <a:solidFill>
                  <a:srgbClr val="141C18"/>
                </a:solidFill>
                <a:latin typeface="Aptos" panose="020B0004020202020204" pitchFamily="34" charset="0"/>
              </a:rPr>
              <a:t>No screen 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692A1-955D-A9FD-EB0B-D0CE060EB839}"/>
              </a:ext>
            </a:extLst>
          </p:cNvPr>
          <p:cNvSpPr txBox="1"/>
          <p:nvPr/>
        </p:nvSpPr>
        <p:spPr>
          <a:xfrm>
            <a:off x="736600" y="1800568"/>
            <a:ext cx="107188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500">
                <a:solidFill>
                  <a:srgbClr val="5B6960"/>
                </a:solidFill>
                <a:latin typeface="Aptos" panose="020B0004020202020204" pitchFamily="34" charset="0"/>
              </a:rPr>
              <a:t>KrishAI is open, but neither screen-sharing path is active.</a:t>
            </a:r>
            <a:endParaRPr lang="en-IN" sz="15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6454EA-855A-88F2-CC97-3D41EB5F81A9}"/>
              </a:ext>
            </a:extLst>
          </p:cNvPr>
          <p:cNvSpPr/>
          <p:nvPr/>
        </p:nvSpPr>
        <p:spPr>
          <a:xfrm>
            <a:off x="736600" y="2667000"/>
            <a:ext cx="4953000" cy="30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CD3A0-D9AE-22A5-6A6D-DE6FF1489C38}"/>
              </a:ext>
            </a:extLst>
          </p:cNvPr>
          <p:cNvSpPr txBox="1"/>
          <p:nvPr/>
        </p:nvSpPr>
        <p:spPr>
          <a:xfrm>
            <a:off x="1066800" y="2942595"/>
            <a:ext cx="42672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100" b="1">
                <a:solidFill>
                  <a:srgbClr val="5B6960"/>
                </a:solidFill>
                <a:latin typeface="Aptos" panose="020B0004020202020204" pitchFamily="34" charset="0"/>
              </a:rPr>
              <a:t>YOUR COMPUTER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2F3C31-49A0-1BB4-AD93-A337C06A9549}"/>
              </a:ext>
            </a:extLst>
          </p:cNvPr>
          <p:cNvSpPr/>
          <p:nvPr/>
        </p:nvSpPr>
        <p:spPr>
          <a:xfrm>
            <a:off x="1066800" y="3429000"/>
            <a:ext cx="4267200" cy="1651000"/>
          </a:xfrm>
          <a:prstGeom prst="rect">
            <a:avLst/>
          </a:prstGeom>
          <a:solidFill>
            <a:srgbClr val="E8EDE9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5B0A8-2717-6EFB-22B3-CE58E3F4ED10}"/>
              </a:ext>
            </a:extLst>
          </p:cNvPr>
          <p:cNvSpPr txBox="1"/>
          <p:nvPr/>
        </p:nvSpPr>
        <p:spPr>
          <a:xfrm>
            <a:off x="1333500" y="4057134"/>
            <a:ext cx="37338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800" b="1">
                <a:solidFill>
                  <a:srgbClr val="141C18"/>
                </a:solidFill>
                <a:latin typeface="Aptos" panose="020B0004020202020204" pitchFamily="34" charset="0"/>
              </a:rPr>
              <a:t>KrishAI\nPrivate local window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F09E3C-C64B-EAFC-5642-3B096A6BA114}"/>
              </a:ext>
            </a:extLst>
          </p:cNvPr>
          <p:cNvSpPr/>
          <p:nvPr/>
        </p:nvSpPr>
        <p:spPr>
          <a:xfrm>
            <a:off x="6502400" y="2667000"/>
            <a:ext cx="4953000" cy="30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8C6C94-17BC-14B2-415A-0FB2357F7DCA}"/>
              </a:ext>
            </a:extLst>
          </p:cNvPr>
          <p:cNvSpPr/>
          <p:nvPr/>
        </p:nvSpPr>
        <p:spPr>
          <a:xfrm>
            <a:off x="8661400" y="3276600"/>
            <a:ext cx="558800" cy="558800"/>
          </a:xfrm>
          <a:prstGeom prst="ellipse">
            <a:avLst/>
          </a:prstGeom>
          <a:solidFill>
            <a:srgbClr val="3068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97740F-DEAF-2627-3346-B5849FFE645C}"/>
              </a:ext>
            </a:extLst>
          </p:cNvPr>
          <p:cNvSpPr/>
          <p:nvPr/>
        </p:nvSpPr>
        <p:spPr>
          <a:xfrm>
            <a:off x="8382000" y="3937000"/>
            <a:ext cx="1117600" cy="863600"/>
          </a:xfrm>
          <a:prstGeom prst="roundRect">
            <a:avLst/>
          </a:prstGeom>
          <a:solidFill>
            <a:srgbClr val="3068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24C99-B752-7214-DF7B-74D67F20628E}"/>
              </a:ext>
            </a:extLst>
          </p:cNvPr>
          <p:cNvSpPr txBox="1"/>
          <p:nvPr/>
        </p:nvSpPr>
        <p:spPr>
          <a:xfrm>
            <a:off x="8128000" y="4941500"/>
            <a:ext cx="16256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200" b="1">
                <a:solidFill>
                  <a:srgbClr val="141C18"/>
                </a:solidFill>
                <a:latin typeface="Aptos" panose="020B0004020202020204" pitchFamily="34" charset="0"/>
              </a:rPr>
              <a:t>Outside participant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B9354-2F51-D745-1CC2-3865DB8BAEAC}"/>
              </a:ext>
            </a:extLst>
          </p:cNvPr>
          <p:cNvSpPr txBox="1"/>
          <p:nvPr/>
        </p:nvSpPr>
        <p:spPr>
          <a:xfrm>
            <a:off x="6959600" y="5048335"/>
            <a:ext cx="4038600" cy="50783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300">
                <a:solidFill>
                  <a:srgbClr val="5B6960"/>
                </a:solidFill>
                <a:latin typeface="Aptos" panose="020B0004020202020204" pitchFamily="34" charset="0"/>
              </a:rPr>
              <a:t>Sees only camera or content already shared in the meeting.</a:t>
            </a:r>
            <a:endParaRPr lang="en-IN" sz="13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2A7B6-AFF2-E951-77BB-67FBEA8A6A32}"/>
              </a:ext>
            </a:extLst>
          </p:cNvPr>
          <p:cNvSpPr txBox="1"/>
          <p:nvPr/>
        </p:nvSpPr>
        <p:spPr>
          <a:xfrm>
            <a:off x="736600" y="6139934"/>
            <a:ext cx="10718800" cy="36933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800" b="1">
                <a:solidFill>
                  <a:srgbClr val="1D6948"/>
                </a:solidFill>
                <a:latin typeface="Aptos" panose="020B0004020202020204" pitchFamily="34" charset="0"/>
              </a:rPr>
              <a:t>No KrishAI snapshot is sent</a:t>
            </a:r>
            <a:endParaRPr lang="en-IN" sz="1800" b="1">
              <a:solidFill>
                <a:srgbClr val="1D694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117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A8609B-A7D9-A993-3C39-76CA4A7B7349}"/>
              </a:ext>
            </a:extLst>
          </p:cNvPr>
          <p:cNvSpPr/>
          <p:nvPr/>
        </p:nvSpPr>
        <p:spPr>
          <a:xfrm>
            <a:off x="736600" y="482600"/>
            <a:ext cx="1422400" cy="355600"/>
          </a:xfrm>
          <a:prstGeom prst="round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E7410-BEED-F42B-C935-3EBFF2DC2A09}"/>
              </a:ext>
            </a:extLst>
          </p:cNvPr>
          <p:cNvSpPr txBox="1"/>
          <p:nvPr/>
        </p:nvSpPr>
        <p:spPr>
          <a:xfrm>
            <a:off x="736600" y="529595"/>
            <a:ext cx="1422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STATE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1F489-F61D-02D2-4466-BB0D0B434644}"/>
              </a:ext>
            </a:extLst>
          </p:cNvPr>
          <p:cNvSpPr txBox="1"/>
          <p:nvPr/>
        </p:nvSpPr>
        <p:spPr>
          <a:xfrm>
            <a:off x="736600" y="1121346"/>
            <a:ext cx="10718800" cy="53860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2900" b="1">
                <a:solidFill>
                  <a:srgbClr val="141C18"/>
                </a:solidFill>
                <a:latin typeface="Aptos" panose="020B0004020202020204" pitchFamily="34" charset="0"/>
              </a:rPr>
              <a:t>You press Share screen in KrishAI</a:t>
            </a:r>
            <a:endParaRPr lang="en-IN" sz="2900" b="1">
              <a:solidFill>
                <a:srgbClr val="141C1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28D0E-D8CC-7567-52FB-270B02920FF8}"/>
              </a:ext>
            </a:extLst>
          </p:cNvPr>
          <p:cNvSpPr txBox="1"/>
          <p:nvPr/>
        </p:nvSpPr>
        <p:spPr>
          <a:xfrm>
            <a:off x="736600" y="1800568"/>
            <a:ext cx="107188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500">
                <a:solidFill>
                  <a:srgbClr val="5B6960"/>
                </a:solidFill>
                <a:latin typeface="Aptos" panose="020B0004020202020204" pitchFamily="34" charset="0"/>
              </a:rPr>
              <a:t>The browser opens a system picker. Nothing is captured until you choose a source.</a:t>
            </a:r>
            <a:endParaRPr lang="en-IN" sz="15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4EDF1C-BD8B-AF34-CFF1-E6DC91157277}"/>
              </a:ext>
            </a:extLst>
          </p:cNvPr>
          <p:cNvSpPr/>
          <p:nvPr/>
        </p:nvSpPr>
        <p:spPr>
          <a:xfrm>
            <a:off x="1333500" y="2603500"/>
            <a:ext cx="9525000" cy="3492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36C1E-634C-93EA-FDDC-FFDEF4FB4903}"/>
              </a:ext>
            </a:extLst>
          </p:cNvPr>
          <p:cNvSpPr txBox="1"/>
          <p:nvPr/>
        </p:nvSpPr>
        <p:spPr>
          <a:xfrm>
            <a:off x="1727200" y="2919140"/>
            <a:ext cx="8737600" cy="384721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900" b="1">
                <a:solidFill>
                  <a:srgbClr val="141C18"/>
                </a:solidFill>
                <a:latin typeface="Aptos" panose="020B0004020202020204" pitchFamily="34" charset="0"/>
              </a:rPr>
              <a:t>Choose what to share with KrishAI</a:t>
            </a:r>
            <a:endParaRPr lang="en-IN" sz="1900" b="1">
              <a:solidFill>
                <a:srgbClr val="141C18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6DF9D1-9300-4387-7831-1F277435085F}"/>
              </a:ext>
            </a:extLst>
          </p:cNvPr>
          <p:cNvSpPr/>
          <p:nvPr/>
        </p:nvSpPr>
        <p:spPr>
          <a:xfrm>
            <a:off x="1727200" y="3632200"/>
            <a:ext cx="2413000" cy="1422400"/>
          </a:xfrm>
          <a:prstGeom prst="rect">
            <a:avLst/>
          </a:prstGeom>
          <a:solidFill>
            <a:srgbClr val="F1F4F1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BC4E9-1072-2CC1-006F-28A19279D7A2}"/>
              </a:ext>
            </a:extLst>
          </p:cNvPr>
          <p:cNvSpPr/>
          <p:nvPr/>
        </p:nvSpPr>
        <p:spPr>
          <a:xfrm>
            <a:off x="1981200" y="3860800"/>
            <a:ext cx="1905000" cy="787400"/>
          </a:xfrm>
          <a:prstGeom prst="rect">
            <a:avLst/>
          </a:prstGeom>
          <a:solidFill>
            <a:srgbClr val="3068B9"/>
          </a:solidFill>
          <a:ln w="15240">
            <a:solidFill>
              <a:srgbClr val="3068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5AE02-6DDB-3C4D-9DA2-98A61C31D59C}"/>
              </a:ext>
            </a:extLst>
          </p:cNvPr>
          <p:cNvSpPr txBox="1"/>
          <p:nvPr/>
        </p:nvSpPr>
        <p:spPr>
          <a:xfrm>
            <a:off x="1727200" y="5182800"/>
            <a:ext cx="2413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200" b="1">
                <a:solidFill>
                  <a:srgbClr val="141C18"/>
                </a:solidFill>
                <a:latin typeface="Aptos" panose="020B0004020202020204" pitchFamily="34" charset="0"/>
              </a:rPr>
              <a:t>Entire screen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CF5318-6128-F585-1671-2F7432A4F1FB}"/>
              </a:ext>
            </a:extLst>
          </p:cNvPr>
          <p:cNvSpPr/>
          <p:nvPr/>
        </p:nvSpPr>
        <p:spPr>
          <a:xfrm>
            <a:off x="4495800" y="3632200"/>
            <a:ext cx="2413000" cy="1422400"/>
          </a:xfrm>
          <a:prstGeom prst="rect">
            <a:avLst/>
          </a:prstGeom>
          <a:solidFill>
            <a:srgbClr val="F1F4F1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CEBE0C-CD15-17C5-C43D-03B0BB848DEA}"/>
              </a:ext>
            </a:extLst>
          </p:cNvPr>
          <p:cNvSpPr/>
          <p:nvPr/>
        </p:nvSpPr>
        <p:spPr>
          <a:xfrm>
            <a:off x="4749800" y="3860800"/>
            <a:ext cx="1905000" cy="787400"/>
          </a:xfrm>
          <a:prstGeom prst="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B87A2-F3D6-A0D7-1D46-21BC5447F599}"/>
              </a:ext>
            </a:extLst>
          </p:cNvPr>
          <p:cNvSpPr txBox="1"/>
          <p:nvPr/>
        </p:nvSpPr>
        <p:spPr>
          <a:xfrm>
            <a:off x="4495800" y="5182800"/>
            <a:ext cx="2413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200" b="1">
                <a:solidFill>
                  <a:srgbClr val="141C18"/>
                </a:solidFill>
                <a:latin typeface="Aptos" panose="020B0004020202020204" pitchFamily="34" charset="0"/>
              </a:rPr>
              <a:t>App window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893C3-A7D2-DA86-0EFB-B668F52A7C51}"/>
              </a:ext>
            </a:extLst>
          </p:cNvPr>
          <p:cNvSpPr/>
          <p:nvPr/>
        </p:nvSpPr>
        <p:spPr>
          <a:xfrm>
            <a:off x="7264400" y="3632200"/>
            <a:ext cx="2413000" cy="1422400"/>
          </a:xfrm>
          <a:prstGeom prst="rect">
            <a:avLst/>
          </a:prstGeom>
          <a:solidFill>
            <a:srgbClr val="F1F4F1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333B47-D976-3041-F448-B8B727D2C838}"/>
              </a:ext>
            </a:extLst>
          </p:cNvPr>
          <p:cNvSpPr/>
          <p:nvPr/>
        </p:nvSpPr>
        <p:spPr>
          <a:xfrm>
            <a:off x="7518400" y="3860800"/>
            <a:ext cx="1905000" cy="787400"/>
          </a:xfrm>
          <a:prstGeom prst="rect">
            <a:avLst/>
          </a:prstGeom>
          <a:solidFill>
            <a:srgbClr val="EB7056"/>
          </a:solidFill>
          <a:ln w="15240">
            <a:solidFill>
              <a:srgbClr val="EB70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4D1E3-C81B-43AD-B2C9-095A1B1B6C3E}"/>
              </a:ext>
            </a:extLst>
          </p:cNvPr>
          <p:cNvSpPr txBox="1"/>
          <p:nvPr/>
        </p:nvSpPr>
        <p:spPr>
          <a:xfrm>
            <a:off x="7264400" y="5182800"/>
            <a:ext cx="2413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200" b="1">
                <a:solidFill>
                  <a:srgbClr val="141C18"/>
                </a:solidFill>
                <a:latin typeface="Aptos" panose="020B0004020202020204" pitchFamily="34" charset="0"/>
              </a:rPr>
              <a:t>Browser tab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7CE7B-CC12-36CF-5F61-6F17B33E7F5D}"/>
              </a:ext>
            </a:extLst>
          </p:cNvPr>
          <p:cNvSpPr txBox="1"/>
          <p:nvPr/>
        </p:nvSpPr>
        <p:spPr>
          <a:xfrm>
            <a:off x="1333500" y="6302718"/>
            <a:ext cx="95250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500">
                <a:solidFill>
                  <a:srgbClr val="5B6960"/>
                </a:solidFill>
                <a:latin typeface="Aptos" panose="020B0004020202020204" pitchFamily="34" charset="0"/>
              </a:rPr>
              <a:t>You remain in control: Cancel sends nothing.</a:t>
            </a:r>
            <a:endParaRPr lang="en-IN" sz="15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930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ECD3E4-3A4C-D022-D544-2226055BA24E}"/>
              </a:ext>
            </a:extLst>
          </p:cNvPr>
          <p:cNvSpPr/>
          <p:nvPr/>
        </p:nvSpPr>
        <p:spPr>
          <a:xfrm>
            <a:off x="736600" y="482600"/>
            <a:ext cx="1422400" cy="355600"/>
          </a:xfrm>
          <a:prstGeom prst="round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A8EBB-DDEA-D4CC-0A89-C393C70FBEA8}"/>
              </a:ext>
            </a:extLst>
          </p:cNvPr>
          <p:cNvSpPr txBox="1"/>
          <p:nvPr/>
        </p:nvSpPr>
        <p:spPr>
          <a:xfrm>
            <a:off x="736600" y="529595"/>
            <a:ext cx="1422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STATE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9E3646-26ED-2731-923A-1B567DE1D20F}"/>
              </a:ext>
            </a:extLst>
          </p:cNvPr>
          <p:cNvSpPr txBox="1"/>
          <p:nvPr/>
        </p:nvSpPr>
        <p:spPr>
          <a:xfrm>
            <a:off x="736600" y="1121346"/>
            <a:ext cx="10718800" cy="53860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2900" b="1">
                <a:solidFill>
                  <a:srgbClr val="141C18"/>
                </a:solidFill>
                <a:latin typeface="Aptos" panose="020B0004020202020204" pitchFamily="34" charset="0"/>
              </a:rPr>
              <a:t>KrishAI sharing is active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5B8F6-8E85-0227-623E-EF4BF8689780}"/>
              </a:ext>
            </a:extLst>
          </p:cNvPr>
          <p:cNvSpPr txBox="1"/>
          <p:nvPr/>
        </p:nvSpPr>
        <p:spPr>
          <a:xfrm>
            <a:off x="736600" y="1800568"/>
            <a:ext cx="107188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500">
                <a:solidFill>
                  <a:srgbClr val="5B6960"/>
                </a:solidFill>
                <a:latin typeface="Aptos" panose="020B0004020202020204" pitchFamily="34" charset="0"/>
              </a:rPr>
              <a:t>A visible indicator stays on. A snapshot is attached only when you submit a question.</a:t>
            </a:r>
            <a:endParaRPr lang="en-IN" sz="15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C897A0-BC7D-5483-F3AE-5E74FDAB771F}"/>
              </a:ext>
            </a:extLst>
          </p:cNvPr>
          <p:cNvSpPr/>
          <p:nvPr/>
        </p:nvSpPr>
        <p:spPr>
          <a:xfrm>
            <a:off x="736600" y="2794000"/>
            <a:ext cx="2984500" cy="260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9B387-3981-C990-CE0E-006EF88B8C80}"/>
              </a:ext>
            </a:extLst>
          </p:cNvPr>
          <p:cNvSpPr txBox="1"/>
          <p:nvPr/>
        </p:nvSpPr>
        <p:spPr>
          <a:xfrm>
            <a:off x="1016000" y="3069595"/>
            <a:ext cx="24257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5B6960"/>
                </a:solidFill>
                <a:latin typeface="Aptos" panose="020B0004020202020204" pitchFamily="34" charset="0"/>
              </a:rPr>
              <a:t>SELECTED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C9959E-E453-9A5E-01E0-F5FB26DDA95B}"/>
              </a:ext>
            </a:extLst>
          </p:cNvPr>
          <p:cNvSpPr/>
          <p:nvPr/>
        </p:nvSpPr>
        <p:spPr>
          <a:xfrm>
            <a:off x="1016000" y="3556000"/>
            <a:ext cx="2425700" cy="1333500"/>
          </a:xfrm>
          <a:prstGeom prst="rect">
            <a:avLst/>
          </a:prstGeom>
          <a:solidFill>
            <a:srgbClr val="3068B9"/>
          </a:solidFill>
          <a:ln w="15240">
            <a:solidFill>
              <a:srgbClr val="3068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00599-42B4-B08C-27B4-C4DF18C44EEF}"/>
              </a:ext>
            </a:extLst>
          </p:cNvPr>
          <p:cNvSpPr txBox="1"/>
          <p:nvPr/>
        </p:nvSpPr>
        <p:spPr>
          <a:xfrm>
            <a:off x="1168400" y="3788202"/>
            <a:ext cx="2120900" cy="83099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Your chosen\nscreen or window</a:t>
            </a:r>
            <a:endParaRPr lang="en-IN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C30B73-354C-AF18-6477-97F84866FC3B}"/>
              </a:ext>
            </a:extLst>
          </p:cNvPr>
          <p:cNvCxnSpPr/>
          <p:nvPr/>
        </p:nvCxnSpPr>
        <p:spPr>
          <a:xfrm>
            <a:off x="3810000" y="4089400"/>
            <a:ext cx="1447800" cy="0"/>
          </a:xfrm>
          <a:prstGeom prst="line">
            <a:avLst/>
          </a:prstGeom>
          <a:ln w="31750">
            <a:solidFill>
              <a:srgbClr val="1D69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E94B86-0C6C-FF0A-3603-8A2233B9C877}"/>
              </a:ext>
            </a:extLst>
          </p:cNvPr>
          <p:cNvSpPr/>
          <p:nvPr/>
        </p:nvSpPr>
        <p:spPr>
          <a:xfrm>
            <a:off x="5334000" y="3098800"/>
            <a:ext cx="2794000" cy="1968500"/>
          </a:xfrm>
          <a:prstGeom prst="roundRect">
            <a:avLst/>
          </a:prstGeom>
          <a:solidFill>
            <a:srgbClr val="DEEEE4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319000-1249-9882-A75A-4D6ACFE50019}"/>
              </a:ext>
            </a:extLst>
          </p:cNvPr>
          <p:cNvSpPr txBox="1"/>
          <p:nvPr/>
        </p:nvSpPr>
        <p:spPr>
          <a:xfrm>
            <a:off x="5562600" y="3602336"/>
            <a:ext cx="2336800" cy="92333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800" b="1">
                <a:solidFill>
                  <a:srgbClr val="141C18"/>
                </a:solidFill>
                <a:latin typeface="Aptos" panose="020B0004020202020204" pitchFamily="34" charset="0"/>
              </a:rPr>
              <a:t>KrishAI API\nSnapshot + question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E53474-327D-F878-BAB1-8EECBDEDE5DB}"/>
              </a:ext>
            </a:extLst>
          </p:cNvPr>
          <p:cNvCxnSpPr/>
          <p:nvPr/>
        </p:nvCxnSpPr>
        <p:spPr>
          <a:xfrm>
            <a:off x="8216900" y="4089400"/>
            <a:ext cx="1231900" cy="0"/>
          </a:xfrm>
          <a:prstGeom prst="line">
            <a:avLst/>
          </a:prstGeom>
          <a:ln w="31750">
            <a:solidFill>
              <a:srgbClr val="1D69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7E140F-47F9-4393-6136-3085A39B294A}"/>
              </a:ext>
            </a:extLst>
          </p:cNvPr>
          <p:cNvSpPr/>
          <p:nvPr/>
        </p:nvSpPr>
        <p:spPr>
          <a:xfrm>
            <a:off x="9525000" y="3098800"/>
            <a:ext cx="1930400" cy="1968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0D03C-F7C3-8F0C-8B0F-BA5C1DF20B83}"/>
              </a:ext>
            </a:extLst>
          </p:cNvPr>
          <p:cNvSpPr txBox="1"/>
          <p:nvPr/>
        </p:nvSpPr>
        <p:spPr>
          <a:xfrm>
            <a:off x="9715500" y="3756224"/>
            <a:ext cx="1549400" cy="61555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700" b="1">
                <a:solidFill>
                  <a:srgbClr val="141C18"/>
                </a:solidFill>
                <a:latin typeface="Aptos" panose="020B0004020202020204" pitchFamily="34" charset="0"/>
              </a:rPr>
              <a:t>Configured\nAI provider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6E7A51-6293-3C0B-B01C-B4B0739A32BB}"/>
              </a:ext>
            </a:extLst>
          </p:cNvPr>
          <p:cNvSpPr/>
          <p:nvPr/>
        </p:nvSpPr>
        <p:spPr>
          <a:xfrm>
            <a:off x="3124200" y="5867400"/>
            <a:ext cx="5943600" cy="355600"/>
          </a:xfrm>
          <a:prstGeom prst="roundRect">
            <a:avLst/>
          </a:prstGeom>
          <a:solidFill>
            <a:srgbClr val="FCE6E0"/>
          </a:solidFill>
          <a:ln w="15240">
            <a:solidFill>
              <a:srgbClr val="FCE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1585A-ED12-A3A4-B014-A5FCF4F76D12}"/>
              </a:ext>
            </a:extLst>
          </p:cNvPr>
          <p:cNvSpPr txBox="1"/>
          <p:nvPr/>
        </p:nvSpPr>
        <p:spPr>
          <a:xfrm>
            <a:off x="3124200" y="5914395"/>
            <a:ext cx="59436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EB7056"/>
                </a:solidFill>
                <a:latin typeface="Aptos" panose="020B0004020202020204" pitchFamily="34" charset="0"/>
              </a:rPr>
              <a:t>NOT SENT TO THE MEETING PARTICIPANT</a:t>
            </a:r>
            <a:endParaRPr lang="en-IN" sz="1100" b="1">
              <a:solidFill>
                <a:srgbClr val="EB705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34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896A0F-82B2-1CDD-12A0-0CB22F683EDC}"/>
              </a:ext>
            </a:extLst>
          </p:cNvPr>
          <p:cNvSpPr/>
          <p:nvPr/>
        </p:nvSpPr>
        <p:spPr>
          <a:xfrm>
            <a:off x="736600" y="482600"/>
            <a:ext cx="1422400" cy="355600"/>
          </a:xfrm>
          <a:prstGeom prst="roundRect">
            <a:avLst/>
          </a:prstGeom>
          <a:solidFill>
            <a:srgbClr val="1D6948"/>
          </a:solidFill>
          <a:ln w="15240">
            <a:solidFill>
              <a:srgbClr val="1D69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B0233-4241-507F-FC68-2631FE7D097C}"/>
              </a:ext>
            </a:extLst>
          </p:cNvPr>
          <p:cNvSpPr txBox="1"/>
          <p:nvPr/>
        </p:nvSpPr>
        <p:spPr>
          <a:xfrm>
            <a:off x="736600" y="529595"/>
            <a:ext cx="1422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STATE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6952F-CC9B-7300-6D9A-7C1104B5DB07}"/>
              </a:ext>
            </a:extLst>
          </p:cNvPr>
          <p:cNvSpPr txBox="1"/>
          <p:nvPr/>
        </p:nvSpPr>
        <p:spPr>
          <a:xfrm>
            <a:off x="736600" y="1121346"/>
            <a:ext cx="10718800" cy="53860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2900" b="1">
                <a:solidFill>
                  <a:srgbClr val="141C18"/>
                </a:solidFill>
                <a:latin typeface="Aptos" panose="020B0004020202020204" pitchFamily="34" charset="0"/>
              </a:rPr>
              <a:t>You share in Teams, Zoom, or Meet</a:t>
            </a:r>
            <a:endParaRPr lang="en-IN" sz="2900" b="1">
              <a:solidFill>
                <a:srgbClr val="141C1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19765-6558-F940-BB77-ED30082A47D7}"/>
              </a:ext>
            </a:extLst>
          </p:cNvPr>
          <p:cNvSpPr txBox="1"/>
          <p:nvPr/>
        </p:nvSpPr>
        <p:spPr>
          <a:xfrm>
            <a:off x="736600" y="1800568"/>
            <a:ext cx="107188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500">
                <a:solidFill>
                  <a:srgbClr val="5B6960"/>
                </a:solidFill>
                <a:latin typeface="Aptos" panose="020B0004020202020204" pitchFamily="34" charset="0"/>
              </a:rPr>
              <a:t>The meeting app selection, not KrishAI, decides what the outside participant receives.</a:t>
            </a:r>
            <a:endParaRPr lang="en-IN" sz="15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96CDDD-DA68-3A89-1DD4-6026EF0FA17B}"/>
              </a:ext>
            </a:extLst>
          </p:cNvPr>
          <p:cNvSpPr/>
          <p:nvPr/>
        </p:nvSpPr>
        <p:spPr>
          <a:xfrm>
            <a:off x="736600" y="2730500"/>
            <a:ext cx="4953000" cy="2984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ACDEB-D952-C83C-DF95-1DB1B639540C}"/>
              </a:ext>
            </a:extLst>
          </p:cNvPr>
          <p:cNvSpPr txBox="1"/>
          <p:nvPr/>
        </p:nvSpPr>
        <p:spPr>
          <a:xfrm>
            <a:off x="1041400" y="3018795"/>
            <a:ext cx="4343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1D6948"/>
                </a:solidFill>
                <a:latin typeface="Aptos" panose="020B0004020202020204" pitchFamily="34" charset="0"/>
              </a:rPr>
              <a:t>SHARE A 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D2F6BC-561E-EC07-C247-FC3380E19F03}"/>
              </a:ext>
            </a:extLst>
          </p:cNvPr>
          <p:cNvSpPr/>
          <p:nvPr/>
        </p:nvSpPr>
        <p:spPr>
          <a:xfrm>
            <a:off x="1143000" y="3556000"/>
            <a:ext cx="4140200" cy="1206500"/>
          </a:xfrm>
          <a:prstGeom prst="rect">
            <a:avLst/>
          </a:prstGeom>
          <a:solidFill>
            <a:srgbClr val="3068B9"/>
          </a:solidFill>
          <a:ln w="15240">
            <a:solidFill>
              <a:srgbClr val="3068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6EF1D-38B3-FD7D-F87C-815FF1AAA8A1}"/>
              </a:ext>
            </a:extLst>
          </p:cNvPr>
          <p:cNvSpPr txBox="1"/>
          <p:nvPr/>
        </p:nvSpPr>
        <p:spPr>
          <a:xfrm>
            <a:off x="1320800" y="3975929"/>
            <a:ext cx="37846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Only that selected app window</a:t>
            </a:r>
            <a:endParaRPr lang="en-IN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92F0D-A9FD-41DF-D144-D0347011D31C}"/>
              </a:ext>
            </a:extLst>
          </p:cNvPr>
          <p:cNvSpPr txBox="1"/>
          <p:nvPr/>
        </p:nvSpPr>
        <p:spPr>
          <a:xfrm>
            <a:off x="1041400" y="5050609"/>
            <a:ext cx="4343400" cy="30008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300">
                <a:solidFill>
                  <a:srgbClr val="5B6960"/>
                </a:solidFill>
                <a:latin typeface="Aptos" panose="020B0004020202020204" pitchFamily="34" charset="0"/>
              </a:rPr>
              <a:t>Most predictable option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34D74C-4F9C-246B-411B-6A678074C2C6}"/>
              </a:ext>
            </a:extLst>
          </p:cNvPr>
          <p:cNvSpPr/>
          <p:nvPr/>
        </p:nvSpPr>
        <p:spPr>
          <a:xfrm>
            <a:off x="6502400" y="2730500"/>
            <a:ext cx="4953000" cy="2984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36D34-484D-9F46-96EA-7B3E7303857A}"/>
              </a:ext>
            </a:extLst>
          </p:cNvPr>
          <p:cNvSpPr txBox="1"/>
          <p:nvPr/>
        </p:nvSpPr>
        <p:spPr>
          <a:xfrm>
            <a:off x="6807200" y="3018795"/>
            <a:ext cx="4343400" cy="26161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IN" sz="1100" b="1">
                <a:solidFill>
                  <a:srgbClr val="EB7056"/>
                </a:solidFill>
                <a:latin typeface="Aptos" panose="020B0004020202020204" pitchFamily="34" charset="0"/>
              </a:rPr>
              <a:t>SHARE AN ENTIRE DISPLAY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67B21-F993-DBEE-D459-5A9F92421C44}"/>
              </a:ext>
            </a:extLst>
          </p:cNvPr>
          <p:cNvSpPr/>
          <p:nvPr/>
        </p:nvSpPr>
        <p:spPr>
          <a:xfrm>
            <a:off x="6908800" y="3556000"/>
            <a:ext cx="4140200" cy="1206500"/>
          </a:xfrm>
          <a:prstGeom prst="rect">
            <a:avLst/>
          </a:prstGeom>
          <a:solidFill>
            <a:srgbClr val="E8EDE9"/>
          </a:solidFill>
          <a:ln w="15240">
            <a:solidFill>
              <a:srgbClr val="D3DC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859CA0-9C81-0AC1-B251-1339BF3366C1}"/>
              </a:ext>
            </a:extLst>
          </p:cNvPr>
          <p:cNvSpPr txBox="1"/>
          <p:nvPr/>
        </p:nvSpPr>
        <p:spPr>
          <a:xfrm>
            <a:off x="7086600" y="3975929"/>
            <a:ext cx="37846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141C18"/>
                </a:solidFill>
                <a:latin typeface="Aptos" panose="020B0004020202020204" pitchFamily="34" charset="0"/>
              </a:rPr>
              <a:t>Everything visible on that display</a:t>
            </a:r>
            <a:endParaRPr lang="en-IN" sz="1700" b="1">
              <a:solidFill>
                <a:srgbClr val="141C18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11F086-CBB7-F9D9-DA97-C90B05576705}"/>
              </a:ext>
            </a:extLst>
          </p:cNvPr>
          <p:cNvSpPr txBox="1"/>
          <p:nvPr/>
        </p:nvSpPr>
        <p:spPr>
          <a:xfrm>
            <a:off x="6807200" y="5014268"/>
            <a:ext cx="43434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200">
                <a:solidFill>
                  <a:srgbClr val="5B6960"/>
                </a:solidFill>
                <a:latin typeface="Aptos" panose="020B0004020202020204" pitchFamily="34" charset="0"/>
              </a:rPr>
              <a:t>Protected KrishAI may be blank or omitted on supported capture paths.</a:t>
            </a:r>
            <a:endParaRPr lang="en-IN" sz="1200">
              <a:solidFill>
                <a:srgbClr val="5B696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EFD68-DF91-371F-0F36-FC401825D4FD}"/>
              </a:ext>
            </a:extLst>
          </p:cNvPr>
          <p:cNvSpPr txBox="1"/>
          <p:nvPr/>
        </p:nvSpPr>
        <p:spPr>
          <a:xfrm>
            <a:off x="736600" y="6168023"/>
            <a:ext cx="107188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EB7056"/>
                </a:solidFill>
                <a:latin typeface="Aptos" panose="020B0004020202020204" pitchFamily="34" charset="0"/>
              </a:rPr>
              <a:t>Always verify in the meeting preview before sharing.</a:t>
            </a:r>
            <a:endParaRPr lang="en-IN" sz="1600" b="1">
              <a:solidFill>
                <a:srgbClr val="EB705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440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974A9-217F-0DB9-47F4-00FB78654F4D}"/>
              </a:ext>
            </a:extLst>
          </p:cNvPr>
          <p:cNvSpPr txBox="1"/>
          <p:nvPr/>
        </p:nvSpPr>
        <p:spPr>
          <a:xfrm>
            <a:off x="736600" y="758051"/>
            <a:ext cx="10718800" cy="553998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Before you share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055193-0891-0FB2-018F-A91B564FA89D}"/>
              </a:ext>
            </a:extLst>
          </p:cNvPr>
          <p:cNvSpPr/>
          <p:nvPr/>
        </p:nvSpPr>
        <p:spPr>
          <a:xfrm>
            <a:off x="736600" y="1803400"/>
            <a:ext cx="10718800" cy="812800"/>
          </a:xfrm>
          <a:prstGeom prst="roundRect">
            <a:avLst/>
          </a:prstGeom>
          <a:solidFill>
            <a:srgbClr val="1C2621"/>
          </a:solidFill>
          <a:ln w="15240">
            <a:solidFill>
              <a:srgbClr val="344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C034B-EE06-04F1-D7BE-FEA48BCA7F13}"/>
              </a:ext>
            </a:extLst>
          </p:cNvPr>
          <p:cNvSpPr txBox="1"/>
          <p:nvPr/>
        </p:nvSpPr>
        <p:spPr>
          <a:xfrm>
            <a:off x="1066800" y="2032829"/>
            <a:ext cx="100330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1   Choose a single app window when possible.</a:t>
            </a:r>
            <a:endParaRPr lang="en-IN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815096-EB97-4A98-BBF7-DE476E80550A}"/>
              </a:ext>
            </a:extLst>
          </p:cNvPr>
          <p:cNvSpPr/>
          <p:nvPr/>
        </p:nvSpPr>
        <p:spPr>
          <a:xfrm>
            <a:off x="736600" y="2794000"/>
            <a:ext cx="10718800" cy="812800"/>
          </a:xfrm>
          <a:prstGeom prst="roundRect">
            <a:avLst/>
          </a:prstGeom>
          <a:solidFill>
            <a:srgbClr val="1C2621"/>
          </a:solidFill>
          <a:ln w="15240">
            <a:solidFill>
              <a:srgbClr val="344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0F597-39E5-E243-05D3-F3DD9F1FAF71}"/>
              </a:ext>
            </a:extLst>
          </p:cNvPr>
          <p:cNvSpPr txBox="1"/>
          <p:nvPr/>
        </p:nvSpPr>
        <p:spPr>
          <a:xfrm>
            <a:off x="1066800" y="3023429"/>
            <a:ext cx="100330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2   Check the meeting preview from a second device or participant.</a:t>
            </a:r>
            <a:endParaRPr lang="en-IN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C54252-7BC7-6AA5-D2BE-FE8D6C04D9F6}"/>
              </a:ext>
            </a:extLst>
          </p:cNvPr>
          <p:cNvSpPr/>
          <p:nvPr/>
        </p:nvSpPr>
        <p:spPr>
          <a:xfrm>
            <a:off x="736600" y="3784600"/>
            <a:ext cx="10718800" cy="812800"/>
          </a:xfrm>
          <a:prstGeom prst="roundRect">
            <a:avLst/>
          </a:prstGeom>
          <a:solidFill>
            <a:srgbClr val="1C2621"/>
          </a:solidFill>
          <a:ln w="15240">
            <a:solidFill>
              <a:srgbClr val="344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383BB-597C-39DF-9151-A974FF9BE1CB}"/>
              </a:ext>
            </a:extLst>
          </p:cNvPr>
          <p:cNvSpPr txBox="1"/>
          <p:nvPr/>
        </p:nvSpPr>
        <p:spPr>
          <a:xfrm>
            <a:off x="1066800" y="4014029"/>
            <a:ext cx="100330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3   Keep the green Privacy protection on indicator visible.</a:t>
            </a:r>
            <a:endParaRPr lang="en-IN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888289-74D5-A32F-C292-67F9C40D1711}"/>
              </a:ext>
            </a:extLst>
          </p:cNvPr>
          <p:cNvSpPr/>
          <p:nvPr/>
        </p:nvSpPr>
        <p:spPr>
          <a:xfrm>
            <a:off x="736600" y="4775200"/>
            <a:ext cx="10718800" cy="812800"/>
          </a:xfrm>
          <a:prstGeom prst="roundRect">
            <a:avLst/>
          </a:prstGeom>
          <a:solidFill>
            <a:srgbClr val="1C2621"/>
          </a:solidFill>
          <a:ln w="15240">
            <a:solidFill>
              <a:srgbClr val="344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A3E3B-FAEA-8921-91F6-928D1288B08F}"/>
              </a:ext>
            </a:extLst>
          </p:cNvPr>
          <p:cNvSpPr txBox="1"/>
          <p:nvPr/>
        </p:nvSpPr>
        <p:spPr>
          <a:xfrm>
            <a:off x="1066800" y="5004629"/>
            <a:ext cx="100330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4   Stop KrishAI screen context when you no longer need it.</a:t>
            </a:r>
            <a:endParaRPr lang="en-IN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A6AD7-C047-37F7-8095-A42860D2BA74}"/>
              </a:ext>
            </a:extLst>
          </p:cNvPr>
          <p:cNvSpPr txBox="1"/>
          <p:nvPr/>
        </p:nvSpPr>
        <p:spPr>
          <a:xfrm>
            <a:off x="736600" y="6111059"/>
            <a:ext cx="10718800" cy="300082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sz="1300">
                <a:solidFill>
                  <a:srgbClr val="BECCC3"/>
                </a:solidFill>
                <a:latin typeface="Aptos" panose="020B0004020202020204" pitchFamily="34" charset="0"/>
              </a:rPr>
              <a:t>Privacy protection is supported-path behavior, not a guarantee against every capture method.</a:t>
            </a:r>
            <a:endParaRPr lang="en-IN" sz="1300">
              <a:solidFill>
                <a:srgbClr val="BECCC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55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:fade/>
      </p:transition>
    </mc:Choice>
    <mc:Fallback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On-screen Show (16:9)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Kumar Bandoju (TATA CONSULTANCY SERVICES LTD)</dc:creator>
  <cp:lastModifiedBy>Krishna Kumar Bandoju (TATA CONSULTANCY SERVICES LTD)</cp:lastModifiedBy>
  <cp:revision>1</cp:revision>
  <dcterms:created xsi:type="dcterms:W3CDTF">2026-08-11T08:45:37Z</dcterms:created>
  <dcterms:modified xsi:type="dcterms:W3CDTF">2026-08-11T08:45:37Z</dcterms:modified>
</cp:coreProperties>
</file>